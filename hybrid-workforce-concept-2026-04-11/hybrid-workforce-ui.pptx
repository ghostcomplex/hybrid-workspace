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2286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C9EFF"/>
                </a:solidFill>
                <a:latin typeface="Helvetica Neue"/>
              </a:defRPr>
            </a:pPr>
            <a:r>
              <a:t>⬡  HW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31520"/>
            <a:ext cx="1188720" cy="18288"/>
          </a:xfrm>
          <a:prstGeom prst="rect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60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🏠 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002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👥 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402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📋 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88035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💬 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52043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⚙️ 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1463040" cy="384048"/>
          </a:xfrm>
          <a:prstGeom prst="rect">
            <a:avLst/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0"/>
            <a:ext cx="10728655" cy="6858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你好，Juanjuan — 今天有 2 件事需要你决策</a:t>
            </a:r>
          </a:p>
        </p:txBody>
      </p:sp>
      <p:sp>
        <p:nvSpPr>
          <p:cNvPr id="14" name="Oval 13"/>
          <p:cNvSpPr/>
          <p:nvPr/>
        </p:nvSpPr>
        <p:spPr>
          <a:xfrm>
            <a:off x="11521440" y="164592"/>
            <a:ext cx="365760" cy="365760"/>
          </a:xfrm>
          <a:prstGeom prst="ellipse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39728" y="20116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8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4475C"/>
                </a:solidFill>
                <a:latin typeface="Helvetica Neue"/>
              </a:defRPr>
            </a:pPr>
            <a:r>
              <a:t>Screen 1 of 4 — Home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777240"/>
            <a:ext cx="10515600" cy="640080"/>
          </a:xfrm>
          <a:prstGeom prst="rect">
            <a:avLst/>
          </a:prstGeom>
          <a:solidFill>
            <a:srgbClr val="2A2210"/>
          </a:solidFill>
          <a:ln w="12700">
            <a:solidFill>
              <a:srgbClr val="FFB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37360" y="960120"/>
            <a:ext cx="228600" cy="228600"/>
          </a:xfrm>
          <a:prstGeom prst="ellipse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850392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B86C"/>
                </a:solidFill>
                <a:latin typeface="Helvetica Neue"/>
              </a:defRPr>
            </a:pPr>
            <a:r>
              <a:t>需要你决策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1051560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pm-Octopus 请求确认 PRD v2 发布  ·  SuperBoss 等待产品方向拍板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9144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C9EFF"/>
                </a:solidFill>
                <a:latin typeface="Helvetica Neue"/>
              </a:defRPr>
            </a:pPr>
            <a:r>
              <a:t>查看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1600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团队状态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2011680"/>
            <a:ext cx="47548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83080" y="2267712"/>
            <a:ext cx="201168" cy="201168"/>
          </a:xfrm>
          <a:prstGeom prst="ellipse">
            <a:avLst/>
          </a:prstGeom>
          <a:solidFill>
            <a:srgbClr val="6B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21031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🐙 pm-Octopus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3957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正在撰写 PRD v2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2212848"/>
            <a:ext cx="1097280" cy="32004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2258568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BE69C"/>
                </a:solidFill>
                <a:latin typeface="Helvetica Neue"/>
              </a:defRPr>
            </a:pPr>
            <a:r>
              <a:t>进行中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4480" y="2880360"/>
            <a:ext cx="47548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783080" y="3136392"/>
            <a:ext cx="201168" cy="201168"/>
          </a:xfrm>
          <a:prstGeom prst="ellipse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2971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🤖 SuperBoss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326440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等待方向确认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3081528"/>
            <a:ext cx="1097280" cy="32004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3127248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B86C"/>
                </a:solidFill>
                <a:latin typeface="Helvetica Neue"/>
              </a:defRPr>
            </a:pPr>
            <a:r>
              <a:t>等待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3749039"/>
            <a:ext cx="47548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783080" y="4005072"/>
            <a:ext cx="201168" cy="201168"/>
          </a:xfrm>
          <a:prstGeom prst="ellipse">
            <a:avLst/>
          </a:prstGeom>
          <a:solidFill>
            <a:srgbClr val="6B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384047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⚡ SuperCrew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133087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Milestone 4 开发中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3950207"/>
            <a:ext cx="1097280" cy="32004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95927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BE69C"/>
                </a:solidFill>
                <a:latin typeface="Helvetica Neue"/>
              </a:defRPr>
            </a:pPr>
            <a:r>
              <a:t>进行中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54480" y="4617720"/>
            <a:ext cx="47548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783080" y="4873752"/>
            <a:ext cx="201168" cy="201168"/>
          </a:xfrm>
          <a:prstGeom prst="ellipse">
            <a:avLst/>
          </a:prstGeom>
          <a:solidFill>
            <a:srgbClr val="8A8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470915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📡 EM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500176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下次检查 in 2h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0" y="4818888"/>
            <a:ext cx="1097280" cy="32004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4864608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8A8DA0"/>
                </a:solidFill>
                <a:latin typeface="Helvetica Neue"/>
              </a:defRPr>
            </a:pPr>
            <a:r>
              <a:t>空闲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16002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最近活动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2011680"/>
            <a:ext cx="52120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66560" y="2267712"/>
            <a:ext cx="128016" cy="128016"/>
          </a:xfrm>
          <a:prstGeom prst="ellipse">
            <a:avLst/>
          </a:prstGeom>
          <a:solidFill>
            <a:srgbClr val="6B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BE69C"/>
                </a:solidFill>
                <a:latin typeface="Helvetica Neue"/>
              </a:defRPr>
            </a:pPr>
            <a:r>
              <a:t>SuperCrew 完成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23774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API 接口联调，已推送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2880360"/>
            <a:ext cx="52120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66560" y="3136392"/>
            <a:ext cx="128016" cy="128016"/>
          </a:xfrm>
          <a:prstGeom prst="ellipse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95160" y="2971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C9EFF"/>
                </a:solidFill>
                <a:latin typeface="Helvetica Neue"/>
              </a:defRPr>
            </a:pPr>
            <a:r>
              <a:t>pm-Octopus 更新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324612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竞品分析报告 v2 已生成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0" y="3749039"/>
            <a:ext cx="52120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766560" y="4005072"/>
            <a:ext cx="128016" cy="128016"/>
          </a:xfrm>
          <a:prstGeom prst="ellipse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95160" y="384047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B86C"/>
                </a:solidFill>
                <a:latin typeface="Helvetica Neue"/>
              </a:defRPr>
            </a:pPr>
            <a:r>
              <a:t>验收未通过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411480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POI 数据覆盖率不足，已上报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0" y="4617720"/>
            <a:ext cx="52120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766560" y="4873752"/>
            <a:ext cx="128016" cy="128016"/>
          </a:xfrm>
          <a:prstGeom prst="ellipse">
            <a:avLst/>
          </a:prstGeom>
          <a:solidFill>
            <a:srgbClr val="8A8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95160" y="470915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8A8DA0"/>
                </a:solidFill>
                <a:latin typeface="Helvetica Neue"/>
              </a:defRPr>
            </a:pPr>
            <a:r>
              <a:t>EM Agent 摘要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498348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今日进展：3 个任务完成，1 个待决策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54480" y="553212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83080" y="56235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6C9E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83080" y="6080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任务进行中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06240" y="553212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34840" y="56235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B86C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34840" y="6080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等待决策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58000" y="553212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6600" y="56235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6BE69C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86600" y="6080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今日完成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09759" y="553212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38359" y="56235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8A8DA0"/>
                </a:solidFill>
                <a:latin typeface="Helvetica Neue"/>
              </a:defRPr>
            </a:pPr>
            <a: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38359" y="6080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异常告警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2286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C9EFF"/>
                </a:solidFill>
                <a:latin typeface="Helvetica Neue"/>
              </a:defRPr>
            </a:pPr>
            <a:r>
              <a:t>⬡  HW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31520"/>
            <a:ext cx="1188720" cy="18288"/>
          </a:xfrm>
          <a:prstGeom prst="rect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60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🏠 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002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👥 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402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📋 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88035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💬 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52043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⚙️ 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1463040" cy="384048"/>
          </a:xfrm>
          <a:prstGeom prst="rect">
            <a:avLst/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0"/>
            <a:ext cx="10728655" cy="6858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Team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配置你的 Agent 团队成员</a:t>
            </a:r>
          </a:p>
        </p:txBody>
      </p:sp>
      <p:sp>
        <p:nvSpPr>
          <p:cNvPr id="14" name="Oval 13"/>
          <p:cNvSpPr/>
          <p:nvPr/>
        </p:nvSpPr>
        <p:spPr>
          <a:xfrm>
            <a:off x="11521440" y="164592"/>
            <a:ext cx="365760" cy="365760"/>
          </a:xfrm>
          <a:prstGeom prst="ellipse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39728" y="20116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8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4475C"/>
                </a:solidFill>
                <a:latin typeface="Helvetica Neue"/>
              </a:defRPr>
            </a:pPr>
            <a:r>
              <a:t>Screen 2 of 4 — Team 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8229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角色模板库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11704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选择角色添加到你的团队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1554480"/>
            <a:ext cx="42976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1737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0F0F5"/>
                </a:solidFill>
                <a:latin typeface="Helvetica Neue"/>
              </a:defRPr>
            </a:pPr>
            <a:r>
              <a:t>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1645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PM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193852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需求分析 · PRD · 竞品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1737360"/>
            <a:ext cx="457200" cy="347472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0952" y="1783080"/>
            <a:ext cx="402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2423160"/>
            <a:ext cx="42976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26060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0F0F5"/>
                </a:solidFill>
                <a:latin typeface="Helvetica Neue"/>
              </a:defRPr>
            </a:pPr>
            <a: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2514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Research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280720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信息收集 · 调研 · 数据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2606040"/>
            <a:ext cx="457200" cy="347472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30952" y="2651760"/>
            <a:ext cx="402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54480" y="3291839"/>
            <a:ext cx="42976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34747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0F0F5"/>
                </a:solidFill>
                <a:latin typeface="Helvetica Neue"/>
              </a:defRPr>
            </a:pPr>
            <a: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38327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Dev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3675887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编码 · 测试 · 部署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3474720"/>
            <a:ext cx="457200" cy="347472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30952" y="3520439"/>
            <a:ext cx="402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54480" y="4160520"/>
            <a:ext cx="42976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83080" y="4343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0F0F5"/>
                </a:solidFill>
                <a:latin typeface="Helvetica Neue"/>
              </a:defRPr>
            </a:pPr>
            <a:r>
              <a:t>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25195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QA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54456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验收 · 审查 · 异常发现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0" y="4343400"/>
            <a:ext cx="457200" cy="347472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30952" y="4389120"/>
            <a:ext cx="402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+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4480" y="5029200"/>
            <a:ext cx="4297680" cy="7315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83080" y="52120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0F0F5"/>
                </a:solidFill>
                <a:latin typeface="Helvetica Neue"/>
              </a:defRPr>
            </a:pPr>
            <a:r>
              <a:t>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5120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EM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541324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进度 · 协调 · 摘要推送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03520" y="5212080"/>
            <a:ext cx="457200" cy="347472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30952" y="5257800"/>
            <a:ext cx="402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8229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当前团队配置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1207008"/>
            <a:ext cx="5212080" cy="18288"/>
          </a:xfrm>
          <a:prstGeom prst="rect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83680" y="1417320"/>
            <a:ext cx="5212080" cy="100584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1527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C9EFF"/>
                </a:solidFill>
                <a:latin typeface="Helvetica Neue"/>
              </a:defRPr>
            </a:pPr>
            <a:r>
              <a:t>🐙 pm-Octopus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1874519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行为准则 · 记忆 · 方法论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15600" y="1737360"/>
            <a:ext cx="1005840" cy="32004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33888" y="1783080"/>
            <a:ext cx="9692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BE69C"/>
                </a:solidFill>
                <a:latin typeface="Helvetica Neue"/>
              </a:defRPr>
            </a:pPr>
            <a:r>
              <a:t>已配置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0" y="2606040"/>
            <a:ext cx="5212080" cy="100584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2280" y="27157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08EFF"/>
                </a:solidFill>
                <a:latin typeface="Helvetica Neue"/>
              </a:defRPr>
            </a:pPr>
            <a:r>
              <a:t>⚡ SuperCrew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80" y="30632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编码 · 测试 · 部署工具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515600" y="2926080"/>
            <a:ext cx="1005840" cy="32004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33888" y="2971800"/>
            <a:ext cx="9692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BE69C"/>
                </a:solidFill>
                <a:latin typeface="Helvetica Neue"/>
              </a:defRPr>
            </a:pPr>
            <a:r>
              <a:t>已配置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680" y="3794760"/>
            <a:ext cx="5212080" cy="100584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12280" y="390448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BE69C"/>
                </a:solidFill>
                <a:latin typeface="Helvetica Neue"/>
              </a:defRPr>
            </a:pPr>
            <a:r>
              <a:t>📡 EM Agent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425196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每 2h 检查 · Cron 定时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515600" y="4114800"/>
            <a:ext cx="1005840" cy="32004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33888" y="4160520"/>
            <a:ext cx="9692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C9EFF"/>
                </a:solidFill>
                <a:latin typeface="Helvetica Neue"/>
              </a:defRPr>
            </a:pPr>
            <a:r>
              <a:t>运行中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52120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已安装工具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0" y="5577840"/>
            <a:ext cx="1005840" cy="41148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01968" y="5650992"/>
            <a:ext cx="9692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9EFF"/>
                </a:solidFill>
                <a:latin typeface="Helvetica Neue"/>
              </a:defRPr>
            </a:pPr>
            <a:r>
              <a:t>browser-use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99248" y="5577840"/>
            <a:ext cx="1005840" cy="41148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17536" y="5650992"/>
            <a:ext cx="9692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9EFF"/>
                </a:solidFill>
                <a:latin typeface="Helvetica Neue"/>
              </a:defRPr>
            </a:pPr>
            <a:r>
              <a:t>小红书爬虫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814816" y="5577840"/>
            <a:ext cx="1005840" cy="41148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33104" y="5650992"/>
            <a:ext cx="9692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9EFF"/>
                </a:solidFill>
                <a:latin typeface="Helvetica Neue"/>
              </a:defRPr>
            </a:pPr>
            <a:r>
              <a:t>PPT 生成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30384" y="5577840"/>
            <a:ext cx="1005840" cy="41148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48672" y="5650992"/>
            <a:ext cx="9692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9EFF"/>
                </a:solidFill>
                <a:latin typeface="Helvetica Neue"/>
              </a:defRPr>
            </a:pPr>
            <a:r>
              <a:t>高德 API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1045952" y="5577840"/>
            <a:ext cx="1005840" cy="4114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64240" y="5650992"/>
            <a:ext cx="9692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44475C"/>
                </a:solidFill>
                <a:latin typeface="Helvetica Neue"/>
              </a:defRPr>
            </a:pPr>
            <a:r>
              <a:t>+ 安装更多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2286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C9EFF"/>
                </a:solidFill>
                <a:latin typeface="Helvetica Neue"/>
              </a:defRPr>
            </a:pPr>
            <a:r>
              <a:t>⬡  HW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31520"/>
            <a:ext cx="1188720" cy="18288"/>
          </a:xfrm>
          <a:prstGeom prst="rect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60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🏠 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002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👥 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402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📋 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88035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💬 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52043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⚙️ 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1463040" cy="384048"/>
          </a:xfrm>
          <a:prstGeom prst="rect">
            <a:avLst/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0"/>
            <a:ext cx="10728655" cy="6858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pm-Octopus — Agent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你的 AI 产品经理</a:t>
            </a:r>
          </a:p>
        </p:txBody>
      </p:sp>
      <p:sp>
        <p:nvSpPr>
          <p:cNvPr id="14" name="Oval 13"/>
          <p:cNvSpPr/>
          <p:nvPr/>
        </p:nvSpPr>
        <p:spPr>
          <a:xfrm>
            <a:off x="11521440" y="164592"/>
            <a:ext cx="365760" cy="365760"/>
          </a:xfrm>
          <a:prstGeom prst="ellipse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39728" y="20116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8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4475C"/>
                </a:solidFill>
                <a:latin typeface="Helvetica Neue"/>
              </a:defRPr>
            </a:pPr>
            <a:r>
              <a:t>Screen 3 of 4 — Agent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777240"/>
            <a:ext cx="3474720" cy="58978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1005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0">
                <a:solidFill>
                  <a:srgbClr val="F0F0F5"/>
                </a:solidFill>
                <a:latin typeface="Helvetica Neue"/>
              </a:defRPr>
            </a:pPr>
            <a:r>
              <a:t>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173736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0F0F5"/>
                </a:solidFill>
                <a:latin typeface="Helvetica Neue"/>
              </a:defRPr>
            </a:pPr>
            <a:r>
              <a:t>pm-Octopus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1488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AI 产品经理</a:t>
            </a:r>
          </a:p>
        </p:txBody>
      </p:sp>
      <p:sp>
        <p:nvSpPr>
          <p:cNvPr id="22" name="Oval 21"/>
          <p:cNvSpPr/>
          <p:nvPr/>
        </p:nvSpPr>
        <p:spPr>
          <a:xfrm>
            <a:off x="2880360" y="2194560"/>
            <a:ext cx="164592" cy="164592"/>
          </a:xfrm>
          <a:prstGeom prst="ellipse">
            <a:avLst/>
          </a:prstGeom>
          <a:solidFill>
            <a:srgbClr val="6B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2560320"/>
            <a:ext cx="2651760" cy="18288"/>
          </a:xfrm>
          <a:prstGeom prst="rect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269748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953512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BE69C"/>
                </a:solidFill>
                <a:latin typeface="Helvetica Neue"/>
              </a:defRPr>
            </a:pPr>
            <a:r>
              <a:t>正在撰写 PRD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29184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已掌握方法论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3547872"/>
            <a:ext cx="265176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584448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CDBC4"/>
                </a:solidFill>
                <a:latin typeface="Helvetica Neue"/>
              </a:defRPr>
            </a:pPr>
            <a:r>
              <a:t>用户洞察框架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3895344"/>
            <a:ext cx="265176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3931920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CDBC4"/>
                </a:solidFill>
                <a:latin typeface="Helvetica Neue"/>
              </a:defRPr>
            </a:pPr>
            <a:r>
              <a:t>竞品分析框架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242816"/>
            <a:ext cx="265176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4279392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CDBC4"/>
                </a:solidFill>
                <a:latin typeface="Helvetica Neue"/>
              </a:defRPr>
            </a:pPr>
            <a:r>
              <a:t>Prompt工程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590288"/>
            <a:ext cx="265176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462686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CDBC4"/>
                </a:solidFill>
                <a:latin typeface="Helvetica Neue"/>
              </a:defRPr>
            </a:pPr>
            <a:r>
              <a:t>LLM评估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4937760"/>
            <a:ext cx="265176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20240" y="4974336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CDBC4"/>
                </a:solidFill>
                <a:latin typeface="Helvetica Neue"/>
              </a:defRPr>
            </a:pPr>
            <a:r>
              <a:t>Agent评估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349240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已安装工具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5605272"/>
            <a:ext cx="82296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47088" y="5650992"/>
            <a:ext cx="7863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9EFF"/>
                </a:solidFill>
                <a:latin typeface="Helvetica Neue"/>
              </a:defRPr>
            </a:pPr>
            <a:r>
              <a:t>browser-use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5605272"/>
            <a:ext cx="82296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61488" y="5650992"/>
            <a:ext cx="7863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9EFF"/>
                </a:solidFill>
                <a:latin typeface="Helvetica Neue"/>
              </a:defRPr>
            </a:pPr>
            <a:r>
              <a:t>小红书爬虫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0" y="5605272"/>
            <a:ext cx="82296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75887" y="5650992"/>
            <a:ext cx="7863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9EFF"/>
                </a:solidFill>
                <a:latin typeface="Helvetica Neue"/>
              </a:defRPr>
            </a:pPr>
            <a:r>
              <a:t>PPT生成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8229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行为准则（节选）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0" y="1188720"/>
            <a:ext cx="3383280" cy="25603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13258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✦  任务创建专属文件夹，过程留文档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176479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✦  决策给选项+分析，不甩开放问题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2203704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✦  角色边界：不管代码不看PR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2642615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✦  需要决策时 @Juanjuan，附背景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3081528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✦  方法论遇到新场景自主更新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393192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近期记忆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4297680"/>
            <a:ext cx="3383280" cy="5029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68112" y="4462272"/>
            <a:ext cx="146304" cy="146304"/>
          </a:xfrm>
          <a:prstGeom prst="ellipse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87568" y="435254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C9EFF"/>
                </a:solidFill>
                <a:latin typeface="Helvetica Neue"/>
              </a:defRPr>
            </a:pPr>
            <a:r>
              <a:t>今天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87568" y="4553712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PRD v2 撰写中，等待 Juanjuan 确认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03520" y="4892040"/>
            <a:ext cx="3383280" cy="5029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468112" y="5056632"/>
            <a:ext cx="146304" cy="146304"/>
          </a:xfrm>
          <a:prstGeom prst="ellipse">
            <a:avLst/>
          </a:prstGeom>
          <a:solidFill>
            <a:srgbClr val="8A8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87568" y="494690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8A8DA0"/>
                </a:solidFill>
                <a:latin typeface="Helvetica Neue"/>
              </a:defRPr>
            </a:pPr>
            <a:r>
              <a:t>昨天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87568" y="5148072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完成竞品分析，发现3个差异化机会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03520" y="5486400"/>
            <a:ext cx="3383280" cy="5029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68112" y="5650992"/>
            <a:ext cx="146304" cy="146304"/>
          </a:xfrm>
          <a:prstGeom prst="ellipse">
            <a:avLst/>
          </a:prstGeom>
          <a:solidFill>
            <a:srgbClr val="8A8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87568" y="554126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8A8DA0"/>
                </a:solidFill>
                <a:latin typeface="Helvetica Neue"/>
              </a:defRPr>
            </a:pPr>
            <a:r>
              <a:t>4/10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87568" y="5742432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与 SuperBoss 对齐 Milestone 5 计划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8229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成长记录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61120" y="1188720"/>
            <a:ext cx="3017520" cy="21031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5712" y="1453895"/>
            <a:ext cx="128016" cy="128016"/>
          </a:xfrm>
          <a:prstGeom prst="ellipse">
            <a:avLst/>
          </a:prstGeom>
          <a:solidFill>
            <a:srgbClr val="6B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0" y="1362456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BE69C"/>
                </a:solidFill>
                <a:latin typeface="Helvetica Neue"/>
              </a:defRPr>
            </a:pPr>
            <a:r>
              <a:t>自主优化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1581912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腰部帖子策略，提升需求挖掘质量</a:t>
            </a:r>
          </a:p>
        </p:txBody>
      </p:sp>
      <p:sp>
        <p:nvSpPr>
          <p:cNvPr id="69" name="Oval 68"/>
          <p:cNvSpPr/>
          <p:nvPr/>
        </p:nvSpPr>
        <p:spPr>
          <a:xfrm>
            <a:off x="9125712" y="2048256"/>
            <a:ext cx="128016" cy="128016"/>
          </a:xfrm>
          <a:prstGeom prst="ellipse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0" y="1956816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C9EFF"/>
                </a:solidFill>
                <a:latin typeface="Helvetica Neue"/>
              </a:defRPr>
            </a:pPr>
            <a:r>
              <a:t>边界内化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2176272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被纠正后自己写进行为准则</a:t>
            </a:r>
          </a:p>
        </p:txBody>
      </p:sp>
      <p:sp>
        <p:nvSpPr>
          <p:cNvPr id="72" name="Oval 71"/>
          <p:cNvSpPr/>
          <p:nvPr/>
        </p:nvSpPr>
        <p:spPr>
          <a:xfrm>
            <a:off x="9125712" y="2642616"/>
            <a:ext cx="128016" cy="128016"/>
          </a:xfrm>
          <a:prstGeom prst="ellipse">
            <a:avLst/>
          </a:prstGeom>
          <a:solidFill>
            <a:srgbClr val="B0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2551176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08EFF"/>
                </a:solidFill>
                <a:latin typeface="Helvetica Neue"/>
              </a:defRPr>
            </a:pPr>
            <a:r>
              <a:t>方法论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2770632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主动搜索沉淀 5 套方法论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61120" y="34747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给 Feedback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61120" y="3840480"/>
            <a:ext cx="3017520" cy="11887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 w="12700">
            <a:solidFill>
              <a:srgbClr val="6C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0" y="3977639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4475C"/>
                </a:solidFill>
                <a:latin typeface="Helvetica Neue"/>
              </a:defRPr>
            </a:pPr>
            <a:r>
              <a:t>输入反馈，Agent 自动更新行为准则...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61120" y="5074920"/>
            <a:ext cx="3017520" cy="411480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61120" y="51206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发送 → 自动沉淀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5623560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E69C"/>
                </a:solidFill>
                <a:latin typeface="Helvetica Neue"/>
              </a:defRPr>
            </a:pPr>
            <a:r>
              <a:t>最近 30 天：收到 12 条 feedback，0 次重犯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2286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C9EFF"/>
                </a:solidFill>
                <a:latin typeface="Helvetica Neue"/>
              </a:defRPr>
            </a:pPr>
            <a:r>
              <a:t>⬡  HW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31520"/>
            <a:ext cx="1188720" cy="18288"/>
          </a:xfrm>
          <a:prstGeom prst="rect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60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🏠 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002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👥 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402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📋 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88035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💬 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52043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⚙️ 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1463040" cy="384048"/>
          </a:xfrm>
          <a:prstGeom prst="rect">
            <a:avLst/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0"/>
            <a:ext cx="10728655" cy="6858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Feed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实时协作动态</a:t>
            </a:r>
          </a:p>
        </p:txBody>
      </p:sp>
      <p:sp>
        <p:nvSpPr>
          <p:cNvPr id="14" name="Oval 13"/>
          <p:cNvSpPr/>
          <p:nvPr/>
        </p:nvSpPr>
        <p:spPr>
          <a:xfrm>
            <a:off x="11521440" y="164592"/>
            <a:ext cx="365760" cy="365760"/>
          </a:xfrm>
          <a:prstGeom prst="ellipse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39728" y="20116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8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4475C"/>
                </a:solidFill>
                <a:latin typeface="Helvetica Neue"/>
              </a:defRPr>
            </a:pPr>
            <a:r>
              <a:t>Screen 4 of 4 — Task Feed &amp; Decision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8229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协作动态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118872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22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54480" y="1188720"/>
            <a:ext cx="54864" cy="868680"/>
          </a:xfrm>
          <a:prstGeom prst="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37360" y="1353312"/>
            <a:ext cx="128016" cy="128016"/>
          </a:xfrm>
          <a:prstGeom prst="ellipse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38528" y="1280160"/>
            <a:ext cx="914400" cy="256032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1307592"/>
            <a:ext cx="859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B86C"/>
                </a:solidFill>
                <a:latin typeface="Helvetica Neue"/>
              </a:defRPr>
            </a:pPr>
            <a:r>
              <a:t>需要决策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128016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pm-Octopus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1609344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PRD v2 已完成，请确认是否发给 SuperBoss 评审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1691640"/>
            <a:ext cx="914400" cy="292608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18687" y="1737360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Helvetica Neue"/>
              </a:defRPr>
            </a:pPr>
            <a:r>
              <a:t>✓ 确认发送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1691640"/>
            <a:ext cx="914400" cy="292608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1737360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Helvetica Neue"/>
              </a:defRPr>
            </a:pPr>
            <a:r>
              <a:t>✗ 先不发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4480" y="219456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737360" y="2359152"/>
            <a:ext cx="128016" cy="128016"/>
          </a:xfrm>
          <a:prstGeom prst="ellipse">
            <a:avLst/>
          </a:prstGeom>
          <a:solidFill>
            <a:srgbClr val="6BE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38528" y="2286000"/>
            <a:ext cx="914400" cy="256032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2313432"/>
            <a:ext cx="859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BE69C"/>
                </a:solidFill>
                <a:latin typeface="Helvetica Neue"/>
              </a:defRPr>
            </a:pPr>
            <a:r>
              <a:t>任务完成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22860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SuperCrew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2615184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Milestone 4 所有接口开发完成，已推送 PR #23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320040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737360" y="3364992"/>
            <a:ext cx="128016" cy="128016"/>
          </a:xfrm>
          <a:prstGeom prst="ellipse">
            <a:avLst/>
          </a:prstGeom>
          <a:solidFill>
            <a:srgbClr val="F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38528" y="3291840"/>
            <a:ext cx="914400" cy="256032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3319272"/>
            <a:ext cx="859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7B7B"/>
                </a:solidFill>
                <a:latin typeface="Helvetica Neue"/>
              </a:defRPr>
            </a:pPr>
            <a:r>
              <a:t>异常上报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32918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QA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621024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验收发现：推荐结果中出现 2 个无效地点，已触发修复流程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54480" y="420624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737360" y="4370832"/>
            <a:ext cx="128016" cy="128016"/>
          </a:xfrm>
          <a:prstGeom prst="ellipse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938528" y="4297680"/>
            <a:ext cx="914400" cy="256032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65960" y="4325112"/>
            <a:ext cx="859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C9EFF"/>
                </a:solidFill>
                <a:latin typeface="Helvetica Neue"/>
              </a:defRPr>
            </a:pPr>
            <a:r>
              <a:t>进展摘要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42976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EM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4626864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今日摘要：3 任务完成，1 待决策，无 blocker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54480" y="521208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737360" y="5376672"/>
            <a:ext cx="128016" cy="128016"/>
          </a:xfrm>
          <a:prstGeom prst="ellipse">
            <a:avLst/>
          </a:prstGeom>
          <a:solidFill>
            <a:srgbClr val="8A8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938528" y="5303520"/>
            <a:ext cx="914400" cy="256032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5330952"/>
            <a:ext cx="8595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8A8DA0"/>
                </a:solidFill>
                <a:latin typeface="Helvetica Neue"/>
              </a:defRPr>
            </a:pPr>
            <a:r>
              <a:t>自主决策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5303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SuperBoss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5632704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已自主决定使用方案 A（Redis 缓存），原因：性能更优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8229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决策中心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117043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只有你能拍板的事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1481328"/>
            <a:ext cx="4846320" cy="18288"/>
          </a:xfrm>
          <a:prstGeom prst="rect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040880" y="1645920"/>
            <a:ext cx="4846320" cy="160020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40880" y="1645920"/>
            <a:ext cx="54864" cy="1600200"/>
          </a:xfrm>
          <a:prstGeom prst="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1247120" y="1783080"/>
            <a:ext cx="54864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65408" y="1810512"/>
            <a:ext cx="512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B86C"/>
                </a:solidFill>
                <a:latin typeface="Helvetica Neue"/>
              </a:defRPr>
            </a:pPr>
            <a:r>
              <a:t>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1783080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产品方向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9480" y="2121408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MVP 要不要加离线模式？</a:t>
            </a:r>
            <a:br/>
            <a:r>
              <a:t>Agent 建议：不加，聚焦核心功能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69480" y="2834640"/>
            <a:ext cx="1005840" cy="292608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87768" y="2871216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Helvetica Neue"/>
              </a:defRPr>
            </a:pPr>
            <a:r>
              <a:t>✓ 同意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66760" y="2834640"/>
            <a:ext cx="1005840" cy="292608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85048" y="2871216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8A8DA0"/>
                </a:solidFill>
                <a:latin typeface="Helvetica Neue"/>
              </a:defRPr>
            </a:pPr>
            <a:r>
              <a:t>↩ 修改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40880" y="3474720"/>
            <a:ext cx="4846320" cy="160020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40880" y="3474720"/>
            <a:ext cx="54864" cy="1600200"/>
          </a:xfrm>
          <a:prstGeom prst="rect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1247120" y="3611879"/>
            <a:ext cx="548640" cy="2743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265408" y="3639312"/>
            <a:ext cx="51206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C9EFF"/>
                </a:solidFill>
                <a:latin typeface="Helvetica Neue"/>
              </a:defRPr>
            </a:pPr>
            <a:r>
              <a:t>中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9480" y="3611879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对外发布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69480" y="3950208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周末去呀 v1.0 是否发布到 App Store？</a:t>
            </a:r>
            <a:br/>
            <a:r>
              <a:t>所有验收已通过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69480" y="4663440"/>
            <a:ext cx="1005840" cy="292608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87768" y="4700016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Helvetica Neue"/>
              </a:defRPr>
            </a:pPr>
            <a:r>
              <a:t>✓ 同意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66760" y="4663440"/>
            <a:ext cx="1005840" cy="292608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85048" y="4700016"/>
            <a:ext cx="96926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8A8DA0"/>
                </a:solidFill>
                <a:latin typeface="Helvetica Neue"/>
              </a:defRPr>
            </a:pPr>
            <a:r>
              <a:t>↩ 修改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40880" y="5394960"/>
            <a:ext cx="4846320" cy="1188720"/>
          </a:xfrm>
          <a:prstGeom prst="roundRect">
            <a:avLst>
              <a:gd name="adj" fmla="val 4000"/>
            </a:avLst>
          </a:prstGeom>
          <a:solidFill>
            <a:srgbClr val="1A1010"/>
          </a:solidFill>
          <a:ln w="12700">
            <a:solidFill>
              <a:srgbClr val="FF7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69480" y="54864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7B7B"/>
                </a:solidFill>
                <a:latin typeface="Helvetica Neue"/>
              </a:defRPr>
            </a:pPr>
            <a:r>
              <a:t>⚡  紧急中断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69480" y="58064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CCD5"/>
                </a:solidFill>
                <a:latin typeface="Helvetica Neue"/>
              </a:defRPr>
            </a:pPr>
            <a:r>
              <a:t>立即暂停指定 Agent 的当前任务</a:t>
            </a:r>
            <a:br/>
            <a:r>
              <a:t>中断指令走高优先级通道，实时生效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01200" y="5559552"/>
            <a:ext cx="2011680" cy="804672"/>
          </a:xfrm>
          <a:prstGeom prst="roundRect">
            <a:avLst>
              <a:gd name="adj" fmla="val 4000"/>
            </a:avLst>
          </a:prstGeom>
          <a:solidFill>
            <a:srgbClr val="F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19488" y="5760720"/>
            <a:ext cx="1975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0F0F5"/>
                </a:solidFill>
                <a:latin typeface="Helvetica Neue"/>
              </a:defRPr>
            </a:pPr>
            <a:r>
              <a:t>暂停团队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22860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C9EFF"/>
                </a:solidFill>
                <a:latin typeface="Helvetica Neue"/>
              </a:defRPr>
            </a:pPr>
            <a:r>
              <a:t>⬡  HW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31520"/>
            <a:ext cx="1188720" cy="18288"/>
          </a:xfrm>
          <a:prstGeom prst="rect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601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🏠 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6002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👥 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2402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📋 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88035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💬 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520439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⚙️ 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1463040" cy="384048"/>
          </a:xfrm>
          <a:prstGeom prst="rect">
            <a:avLst/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0"/>
            <a:ext cx="10728655" cy="6858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0F0F5"/>
                </a:solidFill>
                <a:latin typeface="Helvetica Neue"/>
              </a:defRPr>
            </a:pPr>
            <a:r>
              <a:t>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04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你不配置流程，你只需要告诉团队一次</a:t>
            </a:r>
          </a:p>
        </p:txBody>
      </p:sp>
      <p:sp>
        <p:nvSpPr>
          <p:cNvPr id="14" name="Oval 13"/>
          <p:cNvSpPr/>
          <p:nvPr/>
        </p:nvSpPr>
        <p:spPr>
          <a:xfrm>
            <a:off x="11521440" y="164592"/>
            <a:ext cx="365760" cy="365760"/>
          </a:xfrm>
          <a:prstGeom prst="ellipse">
            <a:avLst/>
          </a:prstGeom>
          <a:solidFill>
            <a:srgbClr val="44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39728" y="20116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8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601968"/>
            <a:ext cx="1188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4475C"/>
                </a:solidFill>
                <a:latin typeface="Helvetica Neue"/>
              </a:defRPr>
            </a:pPr>
            <a:r>
              <a:t>Screen 5 of 5 — Workflow 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8229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告诉团队你的工作方式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123444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0" y="1371600"/>
            <a:ext cx="2468880" cy="594360"/>
          </a:xfrm>
          <a:prstGeom prst="roundRect">
            <a:avLst>
              <a:gd name="adj" fmla="val 4000"/>
            </a:avLst>
          </a:prstGeom>
          <a:solidFill>
            <a:srgbClr val="1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426464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B86C"/>
                </a:solidFill>
                <a:latin typeface="Helvetica Neue"/>
              </a:defRPr>
            </a:pPr>
            <a:r>
              <a:t>🧑 Juanjuan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162763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以后 QA 验收必须附截图，</a:t>
            </a:r>
            <a:br/>
            <a:r>
              <a:t>没有截图不算通过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2121408"/>
            <a:ext cx="2468880" cy="59436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2176272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C9EFF"/>
                </a:solidFill>
                <a:latin typeface="Helvetica Neue"/>
              </a:defRPr>
            </a:pPr>
            <a:r>
              <a:t>🐙 pm-Octopus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37743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收到，已把验收需附截图写入</a:t>
            </a:r>
            <a:br/>
            <a:r>
              <a:t>自己的行为准则，QA Agent 同步更新。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2871215"/>
            <a:ext cx="2468880" cy="594360"/>
          </a:xfrm>
          <a:prstGeom prst="roundRect">
            <a:avLst>
              <a:gd name="adj" fmla="val 4000"/>
            </a:avLst>
          </a:prstGeom>
          <a:solidFill>
            <a:srgbClr val="1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2926079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B86C"/>
                </a:solidFill>
                <a:latin typeface="Helvetica Neue"/>
              </a:defRPr>
            </a:pPr>
            <a:r>
              <a:t>🧑 Juanjuan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12724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Bug issue 没有 repro steps</a:t>
            </a:r>
            <a:br/>
            <a:r>
              <a:t>Dev 可以直接拒绝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3621024"/>
            <a:ext cx="2468880" cy="59436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3675887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08EFF"/>
                </a:solidFill>
                <a:latin typeface="Helvetica Neue"/>
              </a:defRPr>
            </a:pPr>
            <a:r>
              <a:t>⚡ SuperCrew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387705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明白，已加入我的行为准则：</a:t>
            </a:r>
            <a:br/>
            <a:r>
              <a:t>无 repro 的 bug 我有权关闭。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54480" y="4800600"/>
            <a:ext cx="5212080" cy="502920"/>
          </a:xfrm>
          <a:prstGeom prst="roundRect">
            <a:avLst>
              <a:gd name="adj" fmla="val 4000"/>
            </a:avLst>
          </a:prstGeom>
          <a:solidFill>
            <a:srgbClr val="22253A"/>
          </a:solidFill>
          <a:ln w="12700">
            <a:solidFill>
              <a:srgbClr val="6C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48920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4475C"/>
                </a:solidFill>
                <a:latin typeface="Helvetica Neue"/>
              </a:defRPr>
            </a:pPr>
            <a:r>
              <a:t>描述你的工作方式或流程规则...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846320"/>
            <a:ext cx="457200" cy="411480"/>
          </a:xfrm>
          <a:prstGeom prst="roundRect">
            <a:avLst>
              <a:gd name="adj" fmla="val 4000"/>
            </a:avLst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4892040"/>
            <a:ext cx="420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394960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BE69C"/>
                </a:solidFill>
                <a:latin typeface="Helvetica Neue"/>
              </a:defRPr>
            </a:pPr>
            <a:r>
              <a:t>Agent 自动理解、分配、写入各自行为准则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8229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Helvetica Neue"/>
              </a:defRPr>
            </a:pPr>
            <a:r>
              <a:t>Agent 行为准则（自动更新）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1170432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这就是流程文档，始终最新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1508760"/>
            <a:ext cx="4846320" cy="274320"/>
          </a:xfrm>
          <a:prstGeom prst="rect">
            <a:avLst/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155448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B86C"/>
                </a:solidFill>
                <a:latin typeface="Helvetica Neue"/>
              </a:defRPr>
            </a:pPr>
            <a:r>
              <a:t>🔍 QA Agent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55680" y="1554480"/>
            <a:ext cx="594360" cy="201168"/>
          </a:xfrm>
          <a:prstGeom prst="roundRect">
            <a:avLst>
              <a:gd name="adj" fmla="val 4000"/>
            </a:avLst>
          </a:prstGeom>
          <a:solidFill>
            <a:srgbClr val="10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73968" y="1572768"/>
            <a:ext cx="557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BE69C"/>
                </a:solidFill>
                <a:latin typeface="Helvetica Neue"/>
              </a:defRPr>
            </a:pPr>
            <a:r>
              <a:t>已更新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1828800"/>
            <a:ext cx="4846320" cy="30175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78040" y="1929384"/>
            <a:ext cx="91440" cy="91440"/>
          </a:xfrm>
          <a:prstGeom prst="ellipse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0920" y="1883664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验收必须附截图，截图需覆盖全部验收项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40880" y="2176272"/>
            <a:ext cx="4846320" cy="30175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178040" y="2276856"/>
            <a:ext cx="91440" cy="91440"/>
          </a:xfrm>
          <a:prstGeom prst="ellipse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2231136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验收不通过 → 打回 Dev，附截图说明原因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2523744"/>
            <a:ext cx="4846320" cy="30175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178040" y="2624327"/>
            <a:ext cx="91440" cy="91440"/>
          </a:xfrm>
          <a:prstGeom prst="ellipse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2578608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重新验收需与原截图对比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3035808"/>
            <a:ext cx="4846320" cy="274320"/>
          </a:xfrm>
          <a:prstGeom prst="rect">
            <a:avLst/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308152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08EFF"/>
                </a:solidFill>
                <a:latin typeface="Helvetica Neue"/>
              </a:defRPr>
            </a:pPr>
            <a:r>
              <a:t>⚡ Dev Agent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155680" y="3081528"/>
            <a:ext cx="594360" cy="201168"/>
          </a:xfrm>
          <a:prstGeom prst="roundRect">
            <a:avLst>
              <a:gd name="adj" fmla="val 4000"/>
            </a:avLst>
          </a:prstGeom>
          <a:solidFill>
            <a:srgbClr val="10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73968" y="3099816"/>
            <a:ext cx="557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BE69C"/>
                </a:solidFill>
                <a:latin typeface="Helvetica Neue"/>
              </a:defRPr>
            </a:pPr>
            <a:r>
              <a:t>已更新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880" y="3355848"/>
            <a:ext cx="4846320" cy="30175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178040" y="3456432"/>
            <a:ext cx="91440" cy="91440"/>
          </a:xfrm>
          <a:prstGeom prst="ellipse">
            <a:avLst/>
          </a:prstGeom>
          <a:solidFill>
            <a:srgbClr val="B0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60920" y="3410712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接受 bug 前确认 repro steps，无法复现可关闭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40880" y="3703320"/>
            <a:ext cx="4846320" cy="30175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78040" y="3803904"/>
            <a:ext cx="91440" cy="91440"/>
          </a:xfrm>
          <a:prstGeom prst="ellipse">
            <a:avLst/>
          </a:prstGeom>
          <a:solidFill>
            <a:srgbClr val="B0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60920" y="3758184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修复需附根因分析 + 单测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40880" y="4050792"/>
            <a:ext cx="4846320" cy="30175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78040" y="4151376"/>
            <a:ext cx="91440" cy="91440"/>
          </a:xfrm>
          <a:prstGeom prst="ellipse">
            <a:avLst/>
          </a:prstGeom>
          <a:solidFill>
            <a:srgbClr val="B0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60920" y="4105656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收到无 repro 的 bug issue 有权拒绝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40880" y="4562856"/>
            <a:ext cx="4846320" cy="274320"/>
          </a:xfrm>
          <a:prstGeom prst="rect">
            <a:avLst/>
          </a:prstGeom>
          <a:solidFill>
            <a:srgbClr val="22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78040" y="4608576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C9EFF"/>
                </a:solidFill>
                <a:latin typeface="Helvetica Neue"/>
              </a:defRPr>
            </a:pPr>
            <a:r>
              <a:t>🐙 PM Agent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155680" y="4608576"/>
            <a:ext cx="594360" cy="201168"/>
          </a:xfrm>
          <a:prstGeom prst="roundRect">
            <a:avLst>
              <a:gd name="adj" fmla="val 4000"/>
            </a:avLst>
          </a:prstGeom>
          <a:solidFill>
            <a:srgbClr val="10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73968" y="4626864"/>
            <a:ext cx="5577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BE69C"/>
                </a:solidFill>
                <a:latin typeface="Helvetica Neue"/>
              </a:defRPr>
            </a:pPr>
            <a:r>
              <a:t>已更新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40880" y="4882896"/>
            <a:ext cx="4846320" cy="30175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178040" y="4983480"/>
            <a:ext cx="91440" cy="91440"/>
          </a:xfrm>
          <a:prstGeom prst="ellipse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60920" y="4937759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需求变更先开 issue，不口头通知 Dev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040880" y="5230368"/>
            <a:ext cx="4846320" cy="301752"/>
          </a:xfrm>
          <a:prstGeom prst="roundRect">
            <a:avLst>
              <a:gd name="adj" fmla="val 4000"/>
            </a:avLst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178040" y="5330952"/>
            <a:ext cx="91440" cy="91440"/>
          </a:xfrm>
          <a:prstGeom prst="ellipse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60920" y="5285231"/>
            <a:ext cx="4389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关 issue 前确认验收截图已存档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