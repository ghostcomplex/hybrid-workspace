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C9EFF"/>
                </a:solidFill>
                <a:latin typeface="Helvetica Neue"/>
              </a:defRPr>
            </a:pPr>
            <a:r>
              <a:t>HYBRID WORKFORCE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144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>
                <a:solidFill>
                  <a:srgbClr val="F0F0F5"/>
                </a:solidFill>
                <a:latin typeface="Helvetica Neue"/>
              </a:defRPr>
            </a:pPr>
            <a:r>
              <a:t>组织的下一个</a:t>
            </a:r>
            <a:br/>
            <a:r>
              <a:t>基本单位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840480"/>
            <a:ext cx="5486400" cy="22860"/>
          </a:xfrm>
          <a:prstGeom prst="rect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CCCCD5"/>
                </a:solidFill>
                <a:latin typeface="Helvetica Neue"/>
              </a:defRPr>
            </a:pPr>
            <a:r>
              <a:t>Build your workforce, not your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A4D62"/>
                </a:solidFill>
                <a:latin typeface="Helvetica Neue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一个正在发生的范式转移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463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工业时代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CCCCD5"/>
                </a:solidFill>
                <a:latin typeface="Helvetica Neue"/>
              </a:defRPr>
            </a:pPr>
            <a:r>
              <a:t>人 + 机器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468880"/>
            <a:ext cx="301752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5176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CCD5"/>
                </a:solidFill>
                <a:latin typeface="Helvetica Neue"/>
              </a:defRPr>
            </a:pPr>
            <a:r>
              <a:t>体力劳动外包给机器</a:t>
            </a:r>
            <a:br/>
            <a:r>
              <a:t>人负责操作和管理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128016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1463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信息时代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1874519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CCCCD5"/>
                </a:solidFill>
                <a:latin typeface="Helvetica Neue"/>
              </a:defRPr>
            </a:pPr>
            <a:r>
              <a:t>人 + 软件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2468880"/>
            <a:ext cx="301752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65176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CCD5"/>
                </a:solidFill>
                <a:latin typeface="Helvetica Neue"/>
              </a:defRPr>
            </a:pPr>
            <a:r>
              <a:t>脑力劳动辅助给软件</a:t>
            </a:r>
            <a:br/>
            <a:r>
              <a:t>人负责决策和创造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1E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474720" cy="22860"/>
          </a:xfrm>
          <a:prstGeom prst="rect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4630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C9EFF"/>
                </a:solidFill>
                <a:latin typeface="Helvetica Neue"/>
              </a:defRPr>
            </a:pPr>
            <a:r>
              <a:t>Agent 时代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874519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0F0F5"/>
                </a:solidFill>
                <a:latin typeface="Helvetica Neue"/>
              </a:defRPr>
            </a:pPr>
            <a:r>
              <a:t>碳 + 硅团队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2468880"/>
            <a:ext cx="301752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65176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CCD5"/>
                </a:solidFill>
                <a:latin typeface="Helvetica Neue"/>
              </a:defRPr>
            </a:pPr>
            <a:r>
              <a:t>执行本身外包给 Agent</a:t>
            </a:r>
            <a:br/>
            <a:r>
              <a:t>人负责方向和涌现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4023360"/>
            <a:ext cx="3017520" cy="640080"/>
          </a:xfrm>
          <a:prstGeom prst="roundRect">
            <a:avLst>
              <a:gd name="adj" fmla="val 4000"/>
            </a:avLst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41148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6BE69C"/>
                </a:solidFill>
                <a:latin typeface="Helvetica Neue"/>
              </a:defRPr>
            </a:pPr>
            <a:r>
              <a:t>✦  涌现 = 碳硅协作 &gt; 双方之和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77840"/>
            <a:ext cx="10698480" cy="822960"/>
          </a:xfrm>
          <a:prstGeom prst="roundRect">
            <a:avLst>
              <a:gd name="adj" fmla="val 4000"/>
            </a:avLst>
          </a:prstGeom>
          <a:solidFill>
            <a:srgbClr val="1E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B86C"/>
                </a:solidFill>
                <a:latin typeface="Helvetica Neue"/>
              </a:defRPr>
            </a:pPr>
            <a:r>
              <a:t>未来的竞争力，不是"会不会用 AI"，而是"能不能管理一支 AI 团队"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为什么是现在？四层技术同时成熟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2560320" cy="411480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560320" cy="73152"/>
          </a:xfrm>
          <a:prstGeom prst="rect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C9EFF"/>
                </a:solidFill>
                <a:latin typeface="Helvetica Neue"/>
              </a:defRPr>
            </a:pPr>
            <a:r>
              <a:t>Harness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行为准则 · 权限边界 · 工作流约束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19456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D5"/>
                </a:solidFill>
                <a:latin typeface="Helvetica Neue"/>
              </a:defRPr>
            </a:pPr>
            <a:r>
              <a:t>Agent 的工作环境定义</a:t>
            </a:r>
            <a:br/>
            <a:r>
              <a:t>有了 harness，Agent 才有角色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80160"/>
            <a:ext cx="2560320" cy="411480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560320" cy="73152"/>
          </a:xfrm>
          <a:prstGeom prst="rect">
            <a:avLst/>
          </a:prstGeom>
          <a:solidFill>
            <a:srgbClr val="7CD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7CDBC4"/>
                </a:solidFill>
                <a:latin typeface="Helvetica Neue"/>
              </a:defRPr>
            </a:pPr>
            <a:r>
              <a:t>Memory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2024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决策记录 · 经验沉淀 · 上下文传承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377440"/>
            <a:ext cx="219456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56032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D5"/>
                </a:solidFill>
                <a:latin typeface="Helvetica Neue"/>
              </a:defRPr>
            </a:pPr>
            <a:r>
              <a:t>持久化的组织记忆</a:t>
            </a:r>
            <a:br/>
            <a:r>
              <a:t>知识不再只存在人脑里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2560320" cy="411480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2560320" cy="73152"/>
          </a:xfrm>
          <a:prstGeom prst="rect">
            <a:avLst/>
          </a:prstGeom>
          <a:solidFill>
            <a:srgbClr val="B0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B08EFF"/>
                </a:solidFill>
                <a:latin typeface="Helvetica Neue"/>
              </a:defRPr>
            </a:pPr>
            <a:r>
              <a:t>Learning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犯错 → 反思 → 规则更新 → 不再重犯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77440"/>
            <a:ext cx="219456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6032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D5"/>
                </a:solidFill>
                <a:latin typeface="Helvetica Neue"/>
              </a:defRPr>
            </a:pPr>
            <a:r>
              <a:t>Agent 从纠正中自我进化</a:t>
            </a:r>
            <a:br/>
            <a:r>
              <a:t>培训 Agent 就像培训员工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280160"/>
            <a:ext cx="2560320" cy="411480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280160"/>
            <a:ext cx="2560320" cy="73152"/>
          </a:xfrm>
          <a:prstGeom prst="rect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46304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B86C"/>
                </a:solidFill>
                <a:latin typeface="Helvetica Neue"/>
              </a:defRPr>
            </a:pPr>
            <a:r>
              <a:t>Orchestration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92024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谁做什么 · 何时交接 · 卡住找谁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2377440"/>
            <a:ext cx="219456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560320"/>
            <a:ext cx="2194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D5"/>
                </a:solidFill>
                <a:latin typeface="Helvetica Neue"/>
              </a:defRPr>
            </a:pPr>
            <a:r>
              <a:t>碳硅之间的动态分工</a:t>
            </a:r>
            <a:br/>
            <a:r>
              <a:t>人和 Agent 协作有了协议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6BE69C"/>
                </a:solidFill>
                <a:latin typeface="Helvetica Neue"/>
              </a:defRPr>
            </a:pPr>
            <a:r>
              <a:t>这四层同时成熟之前，AI 只能是工具。四层齐备，AI 才能成为同事。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0F0F5"/>
                </a:solidFill>
                <a:latin typeface="Helvetica Neue"/>
              </a:defRPr>
            </a:pPr>
            <a:r>
              <a:t>50 AI employees.</a:t>
            </a:r>
            <a:br/>
            <a:r>
              <a:t>Zero management system.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C9EFF"/>
                </a:solidFill>
                <a:latin typeface="Helvetica Neue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92024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8A8DA0"/>
                </a:solidFill>
                <a:latin typeface="Helvetica Neue"/>
              </a:defRPr>
            </a:pPr>
            <a:r>
              <a:t>WHAT ACTUALLY HAPPENED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C9EFF"/>
                </a:solidFill>
                <a:latin typeface="Helvetica Neue"/>
              </a:defRPr>
            </a:pPr>
            <a:r>
              <a:t>没有组织架构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谁做什么、向谁汇报？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C9EFF"/>
                </a:solidFill>
                <a:latin typeface="Helvetica Neue"/>
              </a:defRPr>
            </a:pPr>
            <a:r>
              <a:t>没有组织记忆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昨天的决策今天忘了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C9EFF"/>
                </a:solidFill>
                <a:latin typeface="Helvetica Neue"/>
              </a:defRPr>
            </a:pPr>
            <a:r>
              <a:t>没有培训体系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同样的错反复犯，新人从零教起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C9EFF"/>
                </a:solidFill>
                <a:latin typeface="Helvetica Neue"/>
              </a:defRPr>
            </a:pPr>
            <a:r>
              <a:t>没有流程规范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8A8DA0"/>
                </a:solidFill>
                <a:latin typeface="Helvetica Neue"/>
              </a:defRPr>
            </a:pPr>
            <a:r>
              <a:t>AI 自作主张，人类失控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029968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PM 和 QA 都有验收职责，边界模糊，PM 看 QA 卡住就帮忙绕过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322576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PM 被冻结期间仍越界帮 QA 推文件、贴 issue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15184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Dev 没等需求评审就开工，PR 做完才发现方向错了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07792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连续 5 天无 daily notes，项目状态完全失明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00400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PR #101 验收停在 22%，无人知道是卡住还是被遗忘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493008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PM→QA 交接丢失决策上下文，实现违反 PRD 决策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785616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验收只看最近 PR，漏掉累积改动，通过后 bug 更多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078224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新 QA 加入当天：端口用错、流程不会、用代码审查代替实际运行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370832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新 PM 接手新项目，所有规则、流程都要再重复一遍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663440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AGENTS.md 膨胀到 20+ 条规则，关键规则被淹没，读了也记不住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956048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同一条规则纠正多次，跨 session 后又忘了，每个新 session 从零开始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248656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QA 没有截图就报验收 Pass，团队基于假结果做决策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541264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Agent 跑长任务时变成聋子，叫停指令等 2 小时才读到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833872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跑完错误任务后刷屏输出，淹没其他人的消息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6126480"/>
            <a:ext cx="5760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CCCCD5"/>
                </a:solidFill>
                <a:latin typeface="Helvetica Neue"/>
              </a:defRPr>
            </a:pPr>
            <a:r>
              <a:t>· 后端路径用错导致 LLM 走 fallback，整个上午验收结果不可靠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Hybrid Workforce — 三个核心模块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475488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474720" cy="73152"/>
          </a:xfrm>
          <a:prstGeom prst="rect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6304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6C9EFF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Helvetica Neue"/>
              </a:defRPr>
            </a:pPr>
            <a:r>
              <a:t>Workforce</a:t>
            </a:r>
            <a:br/>
            <a:r>
              <a:t>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346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B86C"/>
                </a:solidFill>
                <a:latin typeface="Helvetica Neue"/>
              </a:defRPr>
            </a:pPr>
            <a:r>
              <a:t>搭建你的 AI 团队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246120"/>
            <a:ext cx="301752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2900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D5"/>
                </a:solidFill>
                <a:latin typeface="Helvetica Neue"/>
              </a:defRPr>
            </a:pPr>
            <a:r>
              <a:t>预设角色模板库</a:t>
            </a:r>
            <a:br/>
            <a:r>
              <a:t>开箱即用，30 分钟上线</a:t>
            </a:r>
            <a:br/>
            <a:r>
              <a:t>工具接入不绑定平台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280160"/>
            <a:ext cx="3474720" cy="475488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280160"/>
            <a:ext cx="3474720" cy="73152"/>
          </a:xfrm>
          <a:prstGeom prst="rect">
            <a:avLst/>
          </a:prstGeom>
          <a:solidFill>
            <a:srgbClr val="B0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46304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B08EFF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0116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Helvetica Neue"/>
              </a:defRPr>
            </a:pPr>
            <a:r>
              <a:t>Workforce</a:t>
            </a:r>
            <a:br/>
            <a:r>
              <a:t>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8346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B86C"/>
                </a:solidFill>
                <a:latin typeface="Helvetica Neue"/>
              </a:defRPr>
            </a:pPr>
            <a:r>
              <a:t>培训和进化你的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3246120"/>
            <a:ext cx="301752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342900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D5"/>
                </a:solidFill>
                <a:latin typeface="Helvetica Neue"/>
              </a:defRPr>
            </a:pPr>
            <a:r>
              <a:t>反馈 → 行为规则自动更新</a:t>
            </a:r>
            <a:br/>
            <a:r>
              <a:t>记忆体系跨天不失忆</a:t>
            </a:r>
            <a:br/>
            <a:r>
              <a:t>能力越用越强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280160"/>
            <a:ext cx="3474720" cy="475488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474720" cy="73152"/>
          </a:xfrm>
          <a:prstGeom prst="rect">
            <a:avLst/>
          </a:prstGeom>
          <a:solidFill>
            <a:srgbClr val="7CD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146304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7CDBC4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01168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Helvetica Neue"/>
              </a:defRPr>
            </a:pPr>
            <a:r>
              <a:t>Workforce</a:t>
            </a:r>
            <a:br/>
            <a:r>
              <a:t>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83464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B86C"/>
                </a:solidFill>
                <a:latin typeface="Helvetica Neue"/>
              </a:defRPr>
            </a:pPr>
            <a:r>
              <a:t>碳硅协作运作系统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3246120"/>
            <a:ext cx="301752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342900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D5"/>
                </a:solidFill>
                <a:latin typeface="Helvetica Neue"/>
              </a:defRPr>
            </a:pPr>
            <a:r>
              <a:t>介入触发机制</a:t>
            </a:r>
            <a:br/>
            <a:r>
              <a:t>Agent 互相验收</a:t>
            </a:r>
            <a:br/>
            <a:r>
              <a:t>人只处理真正需要拍板的事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我们自己就是第一个用户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8A8DA0"/>
                </a:solidFill>
                <a:latin typeface="Helvetica Neue"/>
              </a:defRPr>
            </a:pPr>
            <a:r>
              <a:t>周末去呀 — 一个真实的碳硅协作案例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100584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B86C"/>
                </a:solidFill>
                <a:latin typeface="Helvetica Neue"/>
              </a:defRPr>
            </a:pPr>
            <a:r>
              <a:t>🧑  人的输入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CCCD5"/>
                </a:solidFill>
                <a:latin typeface="Helvetica Neue"/>
              </a:defRPr>
            </a:pPr>
            <a:r>
              <a:t>"从小红书挖需求，做一个 MVP 产品"  →  仅此而已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2560320" cy="173736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6C9EFF"/>
                </a:solidFill>
                <a:latin typeface="Helvetica Neue"/>
              </a:defRPr>
            </a:pPr>
            <a:r>
              <a:t>需求挖掘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91840"/>
            <a:ext cx="219456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CCCD5"/>
                </a:solidFill>
                <a:latin typeface="Helvetica Neue"/>
              </a:defRPr>
            </a:pPr>
            <a:r>
              <a:t>4维评分</a:t>
            </a:r>
            <a:br/>
            <a:r>
              <a:t>选出周末去哪玩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834640"/>
            <a:ext cx="2560320" cy="173736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9260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CDBC4"/>
                </a:solidFill>
                <a:latin typeface="Helvetica Neue"/>
              </a:defRPr>
            </a:pPr>
            <a:r>
              <a:t>PRD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3291840"/>
            <a:ext cx="219456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342900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CCCD5"/>
                </a:solidFill>
                <a:latin typeface="Helvetica Neue"/>
              </a:defRPr>
            </a:pPr>
            <a:r>
              <a:t>竞品分析+用户洞察</a:t>
            </a:r>
            <a:br/>
            <a:r>
              <a:t>完整需求文档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834640"/>
            <a:ext cx="2560320" cy="173736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08EFF"/>
                </a:solidFill>
                <a:latin typeface="Helvetica Neue"/>
              </a:defRPr>
            </a:pPr>
            <a:r>
              <a:t>开发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291840"/>
            <a:ext cx="219456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CCCD5"/>
                </a:solidFill>
                <a:latin typeface="Helvetica Neue"/>
              </a:defRPr>
            </a:pPr>
            <a:r>
              <a:t>5个Milestone</a:t>
            </a:r>
            <a:br/>
            <a:r>
              <a:t>前后端+部署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834640"/>
            <a:ext cx="2560320" cy="173736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9260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B86C"/>
                </a:solidFill>
                <a:latin typeface="Helvetica Neue"/>
              </a:defRPr>
            </a:pPr>
            <a:r>
              <a:t>验收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3291840"/>
            <a:ext cx="219456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42900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CCCCD5"/>
                </a:solidFill>
                <a:latin typeface="Helvetica Neue"/>
              </a:defRPr>
            </a:pPr>
            <a:r>
              <a:t>Agent互相验收</a:t>
            </a:r>
            <a:br/>
            <a:r>
              <a:t>发现LLM编数据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6320"/>
            <a:ext cx="10698480" cy="1371600"/>
          </a:xfrm>
          <a:prstGeom prst="roundRect">
            <a:avLst>
              <a:gd name="adj" fmla="val 4000"/>
            </a:avLst>
          </a:prstGeom>
          <a:solidFill>
            <a:srgbClr val="1E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8A8DA0"/>
                </a:solidFill>
                <a:latin typeface="Helvetica Neue"/>
              </a:defRPr>
            </a:pPr>
            <a:r>
              <a:t>关键数字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BE69C"/>
                </a:solidFill>
                <a:latin typeface="Helvetica Neue"/>
              </a:defRPr>
            </a:pPr>
            <a:r>
              <a:t>1 句话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人的全部输入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3492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BE69C"/>
                </a:solidFill>
                <a:latin typeface="Helvetica Neue"/>
              </a:defRPr>
            </a:pPr>
            <a:r>
              <a:t>5 次换人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7607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项目零中断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3492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BE69C"/>
                </a:solidFill>
                <a:latin typeface="Helvetica Neue"/>
              </a:defRPr>
            </a:pPr>
            <a:r>
              <a:t>92 个真实 POI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7607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Agent 自主建立防线后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34924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6BE69C"/>
                </a:solidFill>
                <a:latin typeface="Helvetica Neue"/>
              </a:defRPr>
            </a:pPr>
            <a:r>
              <a:t>0 次全程跟进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7607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A8DA0"/>
                </a:solidFill>
                <a:latin typeface="Helvetica Neue"/>
              </a:defRPr>
            </a:pPr>
            <a:r>
              <a:t>人不需要实时在线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0F0F5"/>
                </a:solidFill>
                <a:latin typeface="Helvetica Neue"/>
              </a:defRPr>
            </a:pPr>
            <a:r>
              <a:t>新职业物种正在出现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8A8DA0"/>
                </a:solidFill>
                <a:latin typeface="Helvetica Neue"/>
              </a:defRPr>
            </a:pPr>
            <a:r>
              <a:t>这些角色现在没有名字，但已经存在了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474720" cy="73152"/>
          </a:xfrm>
          <a:prstGeom prst="rect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6C9EFF"/>
                </a:solidFill>
                <a:latin typeface="Helvetica Neue"/>
              </a:defRPr>
            </a:pPr>
            <a:r>
              <a:t>Harness</a:t>
            </a:r>
            <a:br/>
            <a:r>
              <a:t>Engineer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560320"/>
            <a:ext cx="301752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D5"/>
                </a:solidFill>
                <a:latin typeface="Helvetica Neue"/>
              </a:defRPr>
            </a:pPr>
            <a:r>
              <a:t>设计 Agent 的行为边界、角色准则、工作流约束</a:t>
            </a:r>
            <a:br/>
            <a:r>
              <a:t>让 Agent 成为可靠的团队成员，而不是失控的工具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554480"/>
            <a:ext cx="3474720" cy="73152"/>
          </a:xfrm>
          <a:prstGeom prst="rect">
            <a:avLst/>
          </a:prstGeom>
          <a:solidFill>
            <a:srgbClr val="B0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73736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B08EFF"/>
                </a:solidFill>
                <a:latin typeface="Helvetica Neue"/>
              </a:defRPr>
            </a:pPr>
            <a:r>
              <a:t>AI</a:t>
            </a:r>
            <a:br/>
            <a:r>
              <a:t>Team Lead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59" y="2560320"/>
            <a:ext cx="301752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74320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D5"/>
                </a:solidFill>
                <a:latin typeface="Helvetica Neue"/>
              </a:defRPr>
            </a:pPr>
            <a:r>
              <a:t>管理碳硅混编团队</a:t>
            </a:r>
            <a:br/>
            <a:r>
              <a:t>懂得何时授权给 Agent、何时人必须介入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474720" cy="365760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474720" cy="73152"/>
          </a:xfrm>
          <a:prstGeom prst="rect">
            <a:avLst/>
          </a:prstGeom>
          <a:solidFill>
            <a:srgbClr val="7CD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73736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7CDBC4"/>
                </a:solidFill>
                <a:latin typeface="Helvetica Neue"/>
              </a:defRPr>
            </a:pPr>
            <a:r>
              <a:t>Context</a:t>
            </a:r>
            <a:br/>
            <a:r>
              <a:t>Architect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2560320"/>
            <a:ext cx="3017520" cy="22860"/>
          </a:xfrm>
          <a:prstGeom prst="rect">
            <a:avLst/>
          </a:prstGeom>
          <a:solidFill>
            <a:srgbClr val="4A4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743200"/>
            <a:ext cx="3017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CCCD5"/>
                </a:solidFill>
                <a:latin typeface="Helvetica Neue"/>
              </a:defRPr>
            </a:pPr>
            <a:r>
              <a:t>构建组织的记忆和知识体系</a:t>
            </a:r>
            <a:br/>
            <a:r>
              <a:t>让知识不依赖任何单一个体，换人不断档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698480" cy="868680"/>
          </a:xfrm>
          <a:prstGeom prst="roundRect">
            <a:avLst>
              <a:gd name="adj" fmla="val 4000"/>
            </a:avLst>
          </a:prstGeom>
          <a:solidFill>
            <a:srgbClr val="1E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FB86C"/>
                </a:solidFill>
                <a:latin typeface="Helvetica Neue"/>
              </a:defRPr>
            </a:pPr>
            <a:r>
              <a:t>我们在做的，不是一个 AI 工具产品。</a:t>
            </a:r>
            <a:br/>
            <a:r>
              <a:t>我们在定义一个新的工作范式，以及支撑这个范式的基础设施。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Helvetica Neue"/>
              </a:defRPr>
            </a:pPr>
            <a:r>
              <a:t>别人的 AI 说完就忘，我们的 Agent 是真正在成长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6C9EFF"/>
                </a:solidFill>
                <a:latin typeface="Helvetica Neue"/>
              </a:defRPr>
            </a:pPr>
            <a:r>
              <a:t>核心差异化：学到的东西可信 · 可见 · 可追溯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30368" cy="210312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230368" cy="50292"/>
          </a:xfrm>
          <a:prstGeom prst="rect">
            <a:avLst/>
          </a:prstGeom>
          <a:solidFill>
            <a:srgbClr val="F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7B7B"/>
                </a:solidFill>
                <a:latin typeface="Helvetica Neue"/>
              </a:defRPr>
            </a:pPr>
            <a:r>
              <a:t>同样的错，反复犯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LLM 编数据通过了验收，上线后才发现全是假 POI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纠正后下次任务照犯，因为纠正没有真正写进规则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PM 和 QA 都有验收职责，边界模糊，互相踢皮球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PM 看 QA 卡住直接绕过，验收流程形同虚设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417320"/>
            <a:ext cx="5230368" cy="210312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1417320"/>
            <a:ext cx="5230368" cy="50292"/>
          </a:xfrm>
          <a:prstGeom prst="rect">
            <a:avLst/>
          </a:prstGeom>
          <a:solidFill>
            <a:srgbClr val="FFB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52704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B86C"/>
                </a:solidFill>
                <a:latin typeface="Helvetica Neue"/>
              </a:defRPr>
            </a:pPr>
            <a:r>
              <a:t>说完就忘，无法验证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202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Agent 回复「已记住」，关掉对话重开是全新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2860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没有任何机制验证规则是否真正落盘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6517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人以为 Agent 学会了，实际只在当次对话里有效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1752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叫停指令因消息队列延迟，Agent 收到时已完成任务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94760"/>
            <a:ext cx="5230368" cy="210312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94760"/>
            <a:ext cx="5230368" cy="50292"/>
          </a:xfrm>
          <a:prstGeom prst="rect">
            <a:avLst/>
          </a:prstGeom>
          <a:solidFill>
            <a:srgbClr val="B0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90448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B08EFF"/>
                </a:solidFill>
                <a:latin typeface="Helvetica Neue"/>
              </a:defRPr>
            </a:pPr>
            <a:r>
              <a:t>新 Agent 入职，重新教一遍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Dev Agent 换了一个，两周磨合的规则全部归零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没有标准化 onboarding，每次靠人口头传递经验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新 Agent 不知道历史决策，重复走弯路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团队规模扩大时，培训成本线性增长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794760"/>
            <a:ext cx="5230368" cy="2103120"/>
          </a:xfrm>
          <a:prstGeom prst="roundRect">
            <a:avLst>
              <a:gd name="adj" fmla="val 4000"/>
            </a:avLst>
          </a:prstGeom>
          <a:solidFill>
            <a:srgbClr val="1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6208" y="3794760"/>
            <a:ext cx="5230368" cy="50292"/>
          </a:xfrm>
          <a:prstGeom prst="rect">
            <a:avLst/>
          </a:prstGeom>
          <a:solidFill>
            <a:srgbClr val="8A8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390448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8A8DA0"/>
                </a:solidFill>
                <a:latin typeface="Helvetica Neue"/>
              </a:defRPr>
            </a:pPr>
            <a:r>
              <a:t>进展不透明，决策无据可查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2976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不知道 Agent 在干什么，不放心又不想一直盯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6634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Agent 做了决定，不知道依据什么、有无参考规则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50292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多 Agent 并行时，人无法追溯协作过程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53949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CCD5"/>
                </a:solidFill>
                <a:latin typeface="Helvetica Neue"/>
              </a:defRPr>
            </a:pPr>
            <a:r>
              <a:t>· 出问题时无法定位：是规则问题还是执行问题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080760"/>
            <a:ext cx="3566160" cy="658368"/>
          </a:xfrm>
          <a:prstGeom prst="roundRect">
            <a:avLst>
              <a:gd name="adj" fmla="val 4000"/>
            </a:avLst>
          </a:prstGeom>
          <a:solidFill>
            <a:srgbClr val="1E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153912"/>
            <a:ext cx="1005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6BE69C"/>
                </a:solidFill>
                <a:latin typeface="Helvetica Neue"/>
              </a:defRPr>
            </a:pPr>
            <a:r>
              <a:t>可信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62087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规则强制落盘，系统验证，不靠 Agent 自觉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53712" y="6080760"/>
            <a:ext cx="3566160" cy="658368"/>
          </a:xfrm>
          <a:prstGeom prst="roundRect">
            <a:avLst>
              <a:gd name="adj" fmla="val 4000"/>
            </a:avLst>
          </a:prstGeom>
          <a:solidFill>
            <a:srgbClr val="1E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6592" y="6153912"/>
            <a:ext cx="1005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6C9EFF"/>
                </a:solidFill>
                <a:latin typeface="Helvetica Neue"/>
              </a:defRPr>
            </a:pPr>
            <a:r>
              <a:t>可见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3871" y="62087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Agent Profile 展示所有已学规则 + 学习时间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75904" y="6080760"/>
            <a:ext cx="3566160" cy="658368"/>
          </a:xfrm>
          <a:prstGeom prst="roundRect">
            <a:avLst>
              <a:gd name="adj" fmla="val 4000"/>
            </a:avLst>
          </a:prstGeom>
          <a:solidFill>
            <a:srgbClr val="1E2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58784" y="6153912"/>
            <a:ext cx="1005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08EFF"/>
                </a:solidFill>
                <a:latin typeface="Helvetica Neue"/>
              </a:defRPr>
            </a:pPr>
            <a:r>
              <a:t>可追溯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6064" y="62087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8A8DA0"/>
                </a:solidFill>
                <a:latin typeface="Helvetica Neue"/>
              </a:defRPr>
            </a:pPr>
            <a:r>
              <a:t>执行时标注依据规则，决策有据可查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6C9EFF"/>
                </a:solidFill>
                <a:latin typeface="Helvetica Neue"/>
              </a:defRPr>
            </a:pPr>
            <a:r>
              <a:t>HYBRID WORKFORCE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0F0F5"/>
                </a:solidFill>
                <a:latin typeface="Helvetica Neue"/>
              </a:defRPr>
            </a:pPr>
            <a:r>
              <a:t>过去 100 年，</a:t>
            </a:r>
            <a:br/>
            <a:r>
              <a:t>组织的基本单位是"人"。</a:t>
            </a:r>
            <a:br/>
            <a:r>
              <a:t>未来 10 年，是"碳硅团队"。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206240"/>
            <a:ext cx="6400800" cy="22860"/>
          </a:xfrm>
          <a:prstGeom prst="rect">
            <a:avLst/>
          </a:prstGeom>
          <a:solidFill>
            <a:srgbClr val="6C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4805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CCCCD5"/>
                </a:solidFill>
                <a:latin typeface="Helvetica Neue"/>
              </a:defRPr>
            </a:pPr>
            <a:r>
              <a:t>Build your workforce, not your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577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A4D62"/>
                </a:solidFill>
                <a:latin typeface="Helvetica Neue"/>
              </a:defRPr>
            </a:pPr>
            <a:r>
              <a:t>Juanjuan &amp; Team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