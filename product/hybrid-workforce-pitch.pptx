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Calibri"/>
              </a:defRPr>
            </a:pPr>
            <a:r>
              <a:t>HYBRID WORKFORCE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C5CE7"/>
                </a:solidFill>
                <a:latin typeface="Calibri"/>
              </a:defRPr>
            </a:pPr>
            <a:r>
              <a:t>The Operating System for Human-AI Teams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4114800"/>
            <a:ext cx="2103120" cy="36576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8C8D2"/>
                </a:solidFill>
                <a:latin typeface="Calibri"/>
              </a:defRPr>
            </a:pPr>
            <a:r>
              <a:t>碳硅混合团队的操作系统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AI is no longer a tool.</a:t>
            </a:r>
            <a:br/>
            <a:r>
              <a:t>It's your coworker.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7432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8C8D2"/>
                </a:solidFill>
                <a:latin typeface="Calibri"/>
              </a:defRPr>
            </a:pPr>
            <a:r>
              <a:t>▸  Agent 从聊天助手进化为自主执行者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3832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8C8D2"/>
                </a:solidFill>
                <a:latin typeface="Calibri"/>
              </a:defRPr>
            </a:pPr>
            <a:r>
              <a:t>▸  Harness Engineering 成为新学科——管理 AI 比训练 AI 更重要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0233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8C8D2"/>
                </a:solidFill>
                <a:latin typeface="Calibri"/>
              </a:defRPr>
            </a:pPr>
            <a:r>
              <a:t>▸  每个知识工作者都将拥有自己的 AI 团队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50 AI employees.</a:t>
            </a:r>
            <a:br/>
            <a:r>
              <a:t>Zero management system.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C5CE7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246888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8788C"/>
                </a:solidFill>
                <a:latin typeface="Calibri"/>
              </a:defRPr>
            </a:pPr>
            <a:r>
              <a:t>WHAT ACTUALLY HAPPENED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8892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6C5CE7"/>
                </a:solidFill>
                <a:latin typeface="Calibri"/>
              </a:rPr>
              <a:t>没有组织架构</a:t>
            </a:r>
          </a:p>
          <a:p>
            <a:pPr>
              <a:defRPr sz="1300">
                <a:solidFill>
                  <a:srgbClr val="C8C8D2"/>
                </a:solidFill>
                <a:latin typeface="Calibri"/>
              </a:defRPr>
            </a:pPr>
            <a:r>
              <a:t>谁做什么、向谁汇报？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788920"/>
            <a:ext cx="5943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28296"/>
                </a:solidFill>
                <a:latin typeface="Calibri"/>
              </a:defRPr>
            </a:pPr>
            <a:r>
              <a:t>· PM 和 QA 都有验收职责，边界模糊，PM 看 QA 卡住就帮忙绕过</a:t>
            </a:r>
            <a:br/>
            <a:r>
              <a:t>· PM 被冻结期间仍越界帮 QA 推文件、贴 issue</a:t>
            </a:r>
            <a:br/>
            <a:r>
              <a:t>· Dev 没等需求评审就开工，PR 做完才发现方向错了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675887"/>
            <a:ext cx="10515600" cy="3657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749039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6C5CE7"/>
                </a:solidFill>
                <a:latin typeface="Calibri"/>
              </a:rPr>
              <a:t>没有组织记忆</a:t>
            </a:r>
          </a:p>
          <a:p>
            <a:pPr>
              <a:defRPr sz="1300">
                <a:solidFill>
                  <a:srgbClr val="C8C8D2"/>
                </a:solidFill>
                <a:latin typeface="Calibri"/>
              </a:defRPr>
            </a:pPr>
            <a:r>
              <a:t>昨天的决策今天忘了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3749039"/>
            <a:ext cx="5943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28296"/>
                </a:solidFill>
                <a:latin typeface="Calibri"/>
              </a:defRPr>
            </a:pPr>
            <a:r>
              <a:t>· 连续 5 天无 daily notes，项目状态完全失明</a:t>
            </a:r>
            <a:br/>
            <a:r>
              <a:t>· PR #101 验收停在 22%，无人知道是卡住还是被遗忘</a:t>
            </a:r>
            <a:br/>
            <a:r>
              <a:t>· PM→QA 交接丢失决策上下文，实现违反 PRD 决策</a:t>
            </a:r>
            <a:br/>
            <a:r>
              <a:t>· 验收只看最近 PR，漏掉累积改动，通过后 bug 更多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4636008"/>
            <a:ext cx="10515600" cy="3657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70916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6C5CE7"/>
                </a:solidFill>
                <a:latin typeface="Calibri"/>
              </a:rPr>
              <a:t>存储 ≠ 召回</a:t>
            </a:r>
          </a:p>
          <a:p>
            <a:pPr>
              <a:defRPr sz="1300">
                <a:solidFill>
                  <a:srgbClr val="C8C8D2"/>
                </a:solidFill>
                <a:latin typeface="Calibri"/>
              </a:defRPr>
            </a:pPr>
            <a:r>
              <a:t>Teach Once, Store Forever, Recall Never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4709160"/>
            <a:ext cx="5943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28296"/>
                </a:solidFill>
                <a:latin typeface="Calibri"/>
              </a:defRPr>
            </a:pPr>
            <a:r>
              <a:t>· Manta 的 Skill 里写了「GitHub issue 图片用 markdown 格式」，但每次都忘，需要反复提醒</a:t>
            </a:r>
            <a:br/>
            <a:r>
              <a:t>· 规则不是没有，是在 20+ 条中被上下文稀释——Agent 不会像人一样「触景生情」</a:t>
            </a:r>
            <a:br/>
            <a:r>
              <a:t>· 同一条规则纠正多次，跨 session 后又忘了，每个新 session 从零开始</a:t>
            </a:r>
            <a:br/>
            <a:r>
              <a:t>· 新 QA 加入当天：端口用错、流程不会、用代码审查代替实际运行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5596128"/>
            <a:ext cx="10515600" cy="3657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66928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6C5CE7"/>
                </a:solidFill>
                <a:latin typeface="Calibri"/>
              </a:rPr>
              <a:t>没有流程规范</a:t>
            </a:r>
          </a:p>
          <a:p>
            <a:pPr>
              <a:defRPr sz="1300">
                <a:solidFill>
                  <a:srgbClr val="C8C8D2"/>
                </a:solidFill>
                <a:latin typeface="Calibri"/>
              </a:defRPr>
            </a:pPr>
            <a:r>
              <a:t>AI 自作主张，人类失控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5669280"/>
            <a:ext cx="5943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28296"/>
                </a:solidFill>
                <a:latin typeface="Calibri"/>
              </a:defRPr>
            </a:pPr>
            <a:r>
              <a:t>· QA 没有截图就报验收 Pass，团队基于假结果做决策</a:t>
            </a:r>
            <a:br/>
            <a:r>
              <a:t>· Agent 跑长任务时变成聋子，叫停指令等 2 小时才读到</a:t>
            </a:r>
            <a:br/>
            <a:r>
              <a:t>· 跑完错误任务后刷屏输出，淹没其他人的消息</a:t>
            </a:r>
            <a:br/>
            <a:r>
              <a:t>· 后端路径用错导致 LLM 走 fallback，整个上午验收结果不可靠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C5CE7"/>
                </a:solidFill>
                <a:latin typeface="Calibri"/>
              </a:defRPr>
            </a:pPr>
            <a:r>
              <a:t>HYBRID WORKFORCE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The Operating System</a:t>
            </a:r>
            <a:br/>
            <a:r>
              <a:t>for Human-AI Teams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931920"/>
            <a:ext cx="2103120" cy="36576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38912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8C8D2"/>
                </a:solidFill>
                <a:latin typeface="Calibri"/>
              </a:defRPr>
            </a:pPr>
            <a:r>
              <a:t>让每个知识工作者能像管理真人团队一样，</a:t>
            </a:r>
            <a:br/>
            <a:r>
              <a:t>组建、培训、管理一支 AI 团队。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Four Layers of Hybrid Workforce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2103120"/>
            <a:ext cx="2377440" cy="2926080"/>
          </a:xfrm>
          <a:prstGeom prst="rect">
            <a:avLst/>
          </a:prstGeom>
          <a:solidFill>
            <a:srgbClr val="141423"/>
          </a:solidFill>
          <a:ln w="1905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4688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C5CE7"/>
                </a:solidFill>
                <a:latin typeface="Calibri"/>
              </a:defRPr>
            </a:pPr>
            <a:r>
              <a:t>Harness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0175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管理制度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65760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8C8D2"/>
                </a:solidFill>
                <a:latin typeface="Calibri"/>
              </a:defRPr>
            </a:pPr>
            <a:r>
              <a:t>行为准则、权限边界</a:t>
            </a:r>
          </a:p>
        </p:txBody>
      </p:sp>
      <p:sp>
        <p:nvSpPr>
          <p:cNvPr id="7" name="Rectangle 6"/>
          <p:cNvSpPr/>
          <p:nvPr/>
        </p:nvSpPr>
        <p:spPr>
          <a:xfrm>
            <a:off x="3520440" y="2103120"/>
            <a:ext cx="2377440" cy="2926080"/>
          </a:xfrm>
          <a:prstGeom prst="rect">
            <a:avLst/>
          </a:prstGeom>
          <a:solidFill>
            <a:srgbClr val="141423"/>
          </a:solidFill>
          <a:ln w="1905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03320" y="24688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C5CE7"/>
                </a:solidFill>
                <a:latin typeface="Calibri"/>
              </a:defRPr>
            </a:pPr>
            <a:r>
              <a:t>Memory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30175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组织记忆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65760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8C8D2"/>
                </a:solidFill>
                <a:latin typeface="Calibri"/>
              </a:defRPr>
            </a:pPr>
            <a:r>
              <a:t>决策记录、经验沉淀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103120"/>
            <a:ext cx="2377440" cy="2926080"/>
          </a:xfrm>
          <a:prstGeom prst="rect">
            <a:avLst/>
          </a:prstGeom>
          <a:solidFill>
            <a:srgbClr val="141423"/>
          </a:solidFill>
          <a:ln w="1905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4688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C5CE7"/>
                </a:solidFill>
                <a:latin typeface="Calibri"/>
              </a:defRPr>
            </a:pPr>
            <a:r>
              <a:t>Learning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0175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员工成长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65760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8C8D2"/>
                </a:solidFill>
                <a:latin typeface="Calibri"/>
              </a:defRPr>
            </a:pPr>
            <a:r>
              <a:t>纠正→规则→进化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15400" y="2103120"/>
            <a:ext cx="2377440" cy="2926080"/>
          </a:xfrm>
          <a:prstGeom prst="rect">
            <a:avLst/>
          </a:prstGeom>
          <a:solidFill>
            <a:srgbClr val="141423"/>
          </a:solidFill>
          <a:ln w="1905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8280" y="24688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C5CE7"/>
                </a:solidFill>
                <a:latin typeface="Calibri"/>
              </a:defRPr>
            </a:pPr>
            <a:r>
              <a:t>Orchestration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30175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项目管理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365760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8C8D2"/>
                </a:solidFill>
                <a:latin typeface="Calibri"/>
              </a:defRPr>
            </a:pPr>
            <a:r>
              <a:t>碳硅分工、流程调度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C5CE7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Build Your AI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6C5CE7"/>
                </a:solidFill>
                <a:latin typeface="Calibri"/>
              </a:rPr>
              <a:t>团队模板 </a:t>
            </a:r>
            <a:r>
              <a:rPr sz="2000">
                <a:solidFill>
                  <a:srgbClr val="C8C8D2"/>
                </a:solidFill>
                <a:latin typeface="Calibri"/>
              </a:rPr>
              <a:t>— 一键拉起 PM + Dev + QA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926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6C5CE7"/>
                </a:solidFill>
                <a:latin typeface="Calibri"/>
              </a:rPr>
              <a:t>角色定义 </a:t>
            </a:r>
            <a:r>
              <a:rPr sz="2000">
                <a:solidFill>
                  <a:srgbClr val="C8C8D2"/>
                </a:solidFill>
                <a:latin typeface="Calibri"/>
              </a:rPr>
              <a:t>— 每个 Agent 有身份、准则、技能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5661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6C5CE7"/>
                </a:solidFill>
                <a:latin typeface="Calibri"/>
              </a:rPr>
              <a:t>共享知识库 </a:t>
            </a:r>
            <a:r>
              <a:rPr sz="2000">
                <a:solidFill>
                  <a:srgbClr val="C8C8D2"/>
                </a:solidFill>
                <a:latin typeface="Calibri"/>
              </a:rPr>
              <a:t>— 团队共享上下文，不重复交代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2FF"/>
                </a:solidFill>
                <a:latin typeface="Calibri"/>
              </a:defRPr>
            </a:pPr>
            <a:r>
              <a:t>30 分钟从零到开始干活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C5CE7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Teach Once, Recall Instantly, Remember Forever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D2FF"/>
                </a:solidFill>
                <a:latin typeface="Calibri"/>
              </a:defRPr>
            </a:pPr>
            <a:r>
              <a:t>Today: Teach Once, Store Forever, Recall Never.</a:t>
            </a:r>
            <a:br/>
            <a:r>
              <a:t>Tomorrow: Teach Once, Recall Instantly, Remember Forever.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5603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6C5CE7"/>
                </a:solidFill>
                <a:latin typeface="Calibri"/>
              </a:rPr>
              <a:t>场景触发式召回 </a:t>
            </a:r>
            <a:r>
              <a:rPr sz="2000">
                <a:solidFill>
                  <a:srgbClr val="C8C8D2"/>
                </a:solidFill>
                <a:latin typeface="Calibri"/>
              </a:rPr>
              <a:t>— Agent 执行工具前，系统自动注入精准规则（pre-tool-call hook）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2004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8C8D2"/>
                </a:solidFill>
                <a:latin typeface="Calibri"/>
              </a:defRPr>
            </a:pPr>
            <a:r>
              <a:t>▸  你说一句话 → 每个 Agent 自己识别相关规则 → 写入行为准则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8404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8C8D2"/>
                </a:solidFill>
                <a:latin typeface="Calibri"/>
              </a:defRPr>
            </a:pPr>
            <a:r>
              <a:t>▸  四层记忆保障：场景触发 / 行为前检查 / 失败记忆召回 / 渐进式强化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48055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6C5CE7"/>
                </a:solidFill>
                <a:latin typeface="Calibri"/>
              </a:rPr>
              <a:t>不改模型，改 Harness </a:t>
            </a:r>
            <a:r>
              <a:rPr sz="2000">
                <a:solidFill>
                  <a:srgbClr val="C8C8D2"/>
                </a:solidFill>
                <a:latin typeface="Calibri"/>
              </a:rPr>
              <a:t>— 轻量、即时、可解释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C5CE7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Orchestrate Human-AI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6C5CE7"/>
                </a:solidFill>
                <a:latin typeface="Calibri"/>
              </a:rPr>
              <a:t>自然语言定义流程 </a:t>
            </a:r>
            <a:r>
              <a:rPr sz="2000">
                <a:solidFill>
                  <a:srgbClr val="C8C8D2"/>
                </a:solidFill>
                <a:latin typeface="Calibri"/>
              </a:rPr>
              <a:t>— 说一遍，Agent 各自领会并执行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926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6C5CE7"/>
                </a:solidFill>
                <a:latin typeface="Calibri"/>
              </a:rPr>
              <a:t>Human Gate </a:t>
            </a:r>
            <a:r>
              <a:rPr sz="2000">
                <a:solidFill>
                  <a:srgbClr val="C8C8D2"/>
                </a:solidFill>
                <a:latin typeface="Calibri"/>
              </a:rPr>
              <a:t>— 关键决策必须人类拍板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5661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6C5CE7"/>
                </a:solidFill>
                <a:latin typeface="Calibri"/>
              </a:rPr>
              <a:t>Kill Switch </a:t>
            </a:r>
            <a:r>
              <a:rPr sz="2000">
                <a:solidFill>
                  <a:srgbClr val="C8C8D2"/>
                </a:solidFill>
                <a:latin typeface="Calibri"/>
              </a:rPr>
              <a:t>— 实时中断，人类永远掌控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2062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6C5CE7"/>
                </a:solidFill>
                <a:latin typeface="Calibri"/>
              </a:rPr>
              <a:t>Live Monitor </a:t>
            </a:r>
            <a:r>
              <a:rPr sz="2000">
                <a:solidFill>
                  <a:srgbClr val="C8C8D2"/>
                </a:solidFill>
                <a:latin typeface="Calibri"/>
              </a:rPr>
              <a:t>— 随时知道 AI 在做什么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We Are User Zero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2860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8C8D2"/>
                </a:solidFill>
                <a:latin typeface="Calibri"/>
              </a:defRPr>
            </a:pPr>
            <a:r>
              <a:t>▸  我们自己就是第一批用户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926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8C8D2"/>
                </a:solidFill>
                <a:latin typeface="Calibri"/>
              </a:defRPr>
            </a:pPr>
            <a:r>
              <a:t>▸  一个人类 PM 指挥一支 AI 团队，从 0 到 MVP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5661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8C8D2"/>
                </a:solidFill>
                <a:latin typeface="Calibri"/>
              </a:defRPr>
            </a:pPr>
            <a:r>
              <a:t>▸  这不是理论，是我们每天在做的事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2062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8C8D2"/>
                </a:solidFill>
                <a:latin typeface="Calibri"/>
              </a:defRPr>
            </a:pPr>
            <a:r>
              <a:t>▸  所有痛点都来自真实实践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C5CE7"/>
                </a:solidFill>
                <a:latin typeface="Calibri"/>
              </a:defRPr>
            </a:pPr>
            <a:r>
              <a:t>The Future of Work is Hybrid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Are you ready to</a:t>
            </a:r>
            <a:br/>
            <a:r>
              <a:t>build your AI team?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3035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8C8D2"/>
                </a:solidFill>
                <a:latin typeface="Calibri"/>
              </a:defRPr>
            </a:pPr>
            <a:r>
              <a:t>contact@hybridworkforce.ai  ·  hybridworkforce.ai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